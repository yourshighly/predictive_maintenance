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1"/>
  </p:notesMasterIdLst>
  <p:sldIdLst>
    <p:sldId id="256" r:id="rId5"/>
    <p:sldId id="2146847054" r:id="rId6"/>
    <p:sldId id="262" r:id="rId7"/>
    <p:sldId id="263" r:id="rId8"/>
    <p:sldId id="265" r:id="rId9"/>
    <p:sldId id="2146847062" r:id="rId10"/>
    <p:sldId id="266" r:id="rId11"/>
    <p:sldId id="2146847063" r:id="rId12"/>
    <p:sldId id="267" r:id="rId13"/>
    <p:sldId id="268" r:id="rId14"/>
    <p:sldId id="2146847055" r:id="rId15"/>
    <p:sldId id="269" r:id="rId16"/>
    <p:sldId id="2146847059" r:id="rId17"/>
    <p:sldId id="2146847060" r:id="rId18"/>
    <p:sldId id="2146847061" r:id="rId19"/>
    <p:sldId id="25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A2B98E8-7AC3-75BD-DBFE-38A4BBF4F439}" v="10" dt="2024-01-05T12:23:35.348"/>
    <p1510:client id="{12466EFC-1F62-CA2C-07B1-96111B302B1B}" v="154" dt="2023-11-22T13:37:01.483"/>
    <p1510:client id="{47C7BCB7-7546-3717-E035-B2126C89CD1A}" v="2" dt="2023-11-22T12:55:27.3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49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19-08-2025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8/19/2025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8/19/2025</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8/19/2025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8/19/2025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8/19/2025</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8/19/2025</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8/19/2025</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8/19/2025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8/19/2025</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8/19/2025</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8/19/2025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8/19/2025</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normAutofit fontScale="90000"/>
          </a:bodyPr>
          <a:lstStyle/>
          <a:p>
            <a:pPr algn="ctr"/>
            <a:r>
              <a:rPr lang="en-US" dirty="0"/>
              <a:t>Predictive Maintenance of Industrial Machinery</a:t>
            </a:r>
            <a:endParaRPr lang="en-US" b="1" dirty="0">
              <a:solidFill>
                <a:schemeClr val="accent1"/>
              </a:solidFill>
              <a:latin typeface="Arial" panose="020B0604020202020204" pitchFamily="34" charset="0"/>
              <a:cs typeface="Arial" panose="020B0604020202020204" pitchFamily="34" charset="0"/>
            </a:endParaRP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dirty="0">
                <a:solidFill>
                  <a:schemeClr val="accent1">
                    <a:lumMod val="75000"/>
                  </a:schemeClr>
                </a:solidFill>
                <a:latin typeface="Arial"/>
                <a:cs typeface="Arial"/>
              </a:rPr>
              <a:t>CAPSTONE PROJECT</a:t>
            </a:r>
          </a:p>
        </p:txBody>
      </p:sp>
      <p:sp>
        <p:nvSpPr>
          <p:cNvPr id="4" name="TextBox 3"/>
          <p:cNvSpPr txBox="1"/>
          <p:nvPr/>
        </p:nvSpPr>
        <p:spPr>
          <a:xfrm>
            <a:off x="2579646" y="4597123"/>
            <a:ext cx="9144000" cy="707886"/>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r>
              <a:rPr lang="en-US" sz="2000" b="1" dirty="0">
                <a:solidFill>
                  <a:schemeClr val="accent1">
                    <a:lumMod val="75000"/>
                  </a:schemeClr>
                </a:solidFill>
                <a:latin typeface="Arial"/>
                <a:cs typeface="Arial"/>
              </a:rPr>
              <a:t>1. </a:t>
            </a:r>
            <a:r>
              <a:rPr lang="en-US" sz="2000" b="1" dirty="0" err="1">
                <a:latin typeface="Arial"/>
                <a:cs typeface="Arial"/>
              </a:rPr>
              <a:t>Priyanshu</a:t>
            </a:r>
            <a:r>
              <a:rPr lang="en-US" sz="2000" b="1" dirty="0">
                <a:latin typeface="Arial"/>
                <a:cs typeface="Arial"/>
              </a:rPr>
              <a:t> Naskar-SRM Institute of Science &amp; Technology</a:t>
            </a:r>
            <a:r>
              <a:rPr lang="en-US" sz="2000" b="1" dirty="0">
                <a:solidFill>
                  <a:schemeClr val="accent1">
                    <a:lumMod val="75000"/>
                  </a:schemeClr>
                </a:solidFill>
                <a:latin typeface="Arial"/>
                <a:cs typeface="Arial"/>
              </a:rPr>
              <a:t>- </a:t>
            </a:r>
            <a:r>
              <a:rPr lang="en-US" sz="2000" b="1" dirty="0" err="1">
                <a:latin typeface="Arial"/>
                <a:cs typeface="Arial"/>
              </a:rPr>
              <a:t>Btech</a:t>
            </a:r>
            <a:r>
              <a:rPr lang="en-US" sz="2000" b="1" dirty="0">
                <a:latin typeface="Arial"/>
                <a:cs typeface="Arial"/>
              </a:rPr>
              <a:t> CSE</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r>
              <a:rPr lang="en-US" sz="2000" dirty="0">
                <a:latin typeface="Arial"/>
                <a:ea typeface="+mn-lt"/>
                <a:cs typeface="Arial"/>
              </a:rPr>
              <a:t>(Should not include solution)</a:t>
            </a:r>
            <a:endParaRPr lang="en-US" dirty="0">
              <a:latin typeface="Arial"/>
              <a:cs typeface="Arial"/>
            </a:endParaRPr>
          </a:p>
          <a:p>
            <a:pPr marL="305435" indent="-305435"/>
            <a:r>
              <a:rPr lang="en-US" sz="2000" b="1" dirty="0">
                <a:latin typeface="Arial"/>
                <a:ea typeface="+mn-lt"/>
                <a:cs typeface="Arial"/>
              </a:rPr>
              <a:t>Proposed System/Solution</a:t>
            </a:r>
            <a:endParaRPr lang="en-US" dirty="0">
              <a:latin typeface="Arial"/>
              <a:cs typeface="Arial"/>
            </a:endParaRPr>
          </a:p>
          <a:p>
            <a:pPr marL="305435" indent="-305435"/>
            <a:r>
              <a:rPr lang="en-US" sz="2000" b="1" dirty="0">
                <a:latin typeface="Arial"/>
                <a:ea typeface="+mn-lt"/>
                <a:cs typeface="Calibri"/>
              </a:rPr>
              <a:t>System </a:t>
            </a:r>
            <a:r>
              <a:rPr lang="en-US" sz="2000" b="1" dirty="0">
                <a:latin typeface="Arial"/>
                <a:ea typeface="+mn-lt"/>
                <a:cs typeface="+mn-lt"/>
              </a:rPr>
              <a:t>Development Approach </a:t>
            </a:r>
            <a:r>
              <a:rPr lang="en-US" sz="2000" dirty="0">
                <a:latin typeface="Arial"/>
                <a:ea typeface="+mn-lt"/>
                <a:cs typeface="+mn-lt"/>
              </a:rPr>
              <a:t>(Technology Used) </a:t>
            </a:r>
            <a:endParaRPr lang="en-US" dirty="0">
              <a:latin typeface="Arial"/>
              <a:ea typeface="+mn-lt"/>
              <a:cs typeface="+mn-lt"/>
            </a:endParaRPr>
          </a:p>
          <a:p>
            <a:pPr marL="305435" indent="-305435"/>
            <a:r>
              <a:rPr lang="en-US" sz="2000" b="1" dirty="0">
                <a:latin typeface="Arial"/>
                <a:ea typeface="+mn-lt"/>
                <a:cs typeface="+mn-lt"/>
              </a:rPr>
              <a:t>Algorithm &amp; Deployment  </a:t>
            </a:r>
            <a:endParaRPr lang="en-US" dirty="0">
              <a:latin typeface="Arial"/>
              <a:cs typeface="Calibri"/>
            </a:endParaRPr>
          </a:p>
          <a:p>
            <a:pPr marL="305435" indent="-305435"/>
            <a:r>
              <a:rPr lang="en-US" sz="2000" b="1" dirty="0">
                <a:latin typeface="Arial"/>
                <a:ea typeface="+mn-lt"/>
                <a:cs typeface="Arial"/>
              </a:rPr>
              <a:t>Result (Output Image)</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Scope</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lstStyle/>
          <a:p>
            <a:pPr marL="305435" indent="-305435"/>
            <a:r>
              <a:rPr lang="en-US" dirty="0"/>
              <a:t>A medium-sized manufacturing plant runs multiple identical rotatory compressors (or pumps / motors) 24/7. Unexpected failures lead to costly downtime and emergency repairs. The plant has installed sensors on each machine (vibration, temperature, current, RPM, and acoustic) streaming data to an edge gateway every second. Historical maintenance logs and a handful of past failure events exist, but failures are rare.</a:t>
            </a:r>
          </a:p>
          <a:p>
            <a:pPr marL="305435" indent="-305435"/>
            <a:r>
              <a:rPr lang="en-US" dirty="0"/>
              <a:t>Our objective is to build a real-time predictive maintenance system that ingests streaming sensor data, detects early signs of degradation, issues actionable alerts with remaining useful life (RUL) estimates, and minimizes false alarms. </a:t>
            </a:r>
          </a:p>
          <a:p>
            <a:pPr marL="305435" indent="-305435"/>
            <a:r>
              <a:rPr lang="en-US" dirty="0"/>
              <a:t>However, past incident logs show that most failures give subtle warning signs — small increases in vibration, gradual temperature rise, or unusual current draw — hours or days before breakdown. These indicators are not detected early enough by human operators scanning SCADA dashboards.</a:t>
            </a:r>
            <a:endParaRPr lang="en-IN"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Proposed Solution</a:t>
            </a:r>
            <a:endParaRPr lang="en-US" sz="4400"/>
          </a:p>
        </p:txBody>
      </p:sp>
      <p:sp>
        <p:nvSpPr>
          <p:cNvPr id="14" name="Content Placeholder 13">
            <a:extLst>
              <a:ext uri="{FF2B5EF4-FFF2-40B4-BE49-F238E27FC236}">
                <a16:creationId xmlns:a16="http://schemas.microsoft.com/office/drawing/2014/main" id="{05683BBA-D026-3480-2AD9-9B4C2E3648C1}"/>
              </a:ext>
            </a:extLst>
          </p:cNvPr>
          <p:cNvSpPr>
            <a:spLocks noGrp="1"/>
          </p:cNvSpPr>
          <p:nvPr>
            <p:ph idx="1"/>
          </p:nvPr>
        </p:nvSpPr>
        <p:spPr>
          <a:xfrm>
            <a:off x="581192" y="1302026"/>
            <a:ext cx="11029615" cy="5053054"/>
          </a:xfrm>
        </p:spPr>
        <p:txBody>
          <a:bodyPr/>
          <a:lstStyle/>
          <a:p>
            <a:r>
              <a:rPr lang="en-US" dirty="0"/>
              <a:t>Our objective with the project is to develop a real-time predictive maintenance system that:</a:t>
            </a:r>
          </a:p>
          <a:p>
            <a:r>
              <a:rPr lang="en-US" dirty="0"/>
              <a:t>Continuously monitors each compressor’s condition using existing IoT sensors (vibration, temperature, current, RPM).</a:t>
            </a:r>
          </a:p>
          <a:p>
            <a:r>
              <a:rPr lang="en-US" dirty="0"/>
              <a:t>Identifies early indicators of mechanical or electrical degradation (e.g., bearing wear, rotor imbalance, overheating, lubrication issues).</a:t>
            </a:r>
          </a:p>
          <a:p>
            <a:r>
              <a:rPr lang="en-US" dirty="0"/>
              <a:t>Predicts Remaining Useful Life (RUL) with enough lead time (minimum 48 hours) for planned intervention.</a:t>
            </a:r>
          </a:p>
          <a:p>
            <a:r>
              <a:rPr lang="en-US" dirty="0"/>
              <a:t>Triggers actionable maintenance alerts with:</a:t>
            </a:r>
          </a:p>
          <a:p>
            <a:pPr marL="342900" indent="-342900">
              <a:buFont typeface="+mj-lt"/>
              <a:buAutoNum type="arabicPeriod"/>
            </a:pPr>
            <a:endParaRPr lang="en-US" dirty="0"/>
          </a:p>
          <a:p>
            <a:pPr marL="342900" indent="-342900">
              <a:buFont typeface="+mj-lt"/>
              <a:buAutoNum type="arabicPeriod"/>
            </a:pPr>
            <a:endParaRPr lang="en-IN" dirty="0"/>
          </a:p>
        </p:txBody>
      </p:sp>
      <p:sp>
        <p:nvSpPr>
          <p:cNvPr id="4" name="Rectangle 2">
            <a:extLst>
              <a:ext uri="{FF2B5EF4-FFF2-40B4-BE49-F238E27FC236}">
                <a16:creationId xmlns:a16="http://schemas.microsoft.com/office/drawing/2014/main" id="{9B12DF52-97A7-ABA3-C3B4-F2AE22F30F81}"/>
              </a:ext>
            </a:extLst>
          </p:cNvPr>
          <p:cNvSpPr>
            <a:spLocks noChangeArrowheads="1"/>
          </p:cNvSpPr>
          <p:nvPr/>
        </p:nvSpPr>
        <p:spPr bwMode="auto">
          <a:xfrm>
            <a:off x="1872762" y="-6677814"/>
            <a:ext cx="7350369" cy="9233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b="1"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81978A94-4872-F7C2-8FB9-30CA307E0BED}"/>
              </a:ext>
            </a:extLst>
          </p:cNvPr>
          <p:cNvSpPr>
            <a:spLocks noChangeArrowheads="1"/>
          </p:cNvSpPr>
          <p:nvPr/>
        </p:nvSpPr>
        <p:spPr bwMode="auto">
          <a:xfrm>
            <a:off x="694944" y="4500179"/>
            <a:ext cx="3090671" cy="11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2" algn="ctr" eaLnBrk="0" fontAlgn="base" hangingPunct="0">
              <a:spcBef>
                <a:spcPct val="0"/>
              </a:spcBef>
              <a:spcAft>
                <a:spcPct val="0"/>
              </a:spcAft>
            </a:pPr>
            <a:endParaRPr kumimoji="0" lang="en-US" altLang="en-US" b="0" i="0" u="none" strike="noStrike" cap="none" normalizeH="0" baseline="0" dirty="0">
              <a:ln>
                <a:noFill/>
              </a:ln>
              <a:solidFill>
                <a:schemeClr val="tx1"/>
              </a:solidFill>
              <a:effectLst/>
              <a:latin typeface="Arial" panose="020B0604020202020204" pitchFamily="34" charset="0"/>
            </a:endParaRPr>
          </a:p>
          <a:p>
            <a:pPr marL="400050" marR="0" lvl="0" indent="-400050" algn="l" defTabSz="914400" rtl="0" eaLnBrk="0" fontAlgn="base" latinLnBrk="0" hangingPunct="0">
              <a:lnSpc>
                <a:spcPct val="100000"/>
              </a:lnSpc>
              <a:spcBef>
                <a:spcPct val="0"/>
              </a:spcBef>
              <a:spcAft>
                <a:spcPct val="0"/>
              </a:spcAft>
              <a:buClrTx/>
              <a:buSzTx/>
              <a:buFont typeface="+mj-lt"/>
              <a:buAutoNum type="romanUcPeriod"/>
              <a:tabLst/>
            </a:pPr>
            <a:r>
              <a:rPr lang="en-US" altLang="en-US" sz="1700" dirty="0">
                <a:solidFill>
                  <a:schemeClr val="tx1">
                    <a:lumMod val="75000"/>
                    <a:lumOff val="25000"/>
                  </a:schemeClr>
                </a:solidFill>
              </a:rPr>
              <a:t>Fault type (if identifiable).</a:t>
            </a:r>
          </a:p>
          <a:p>
            <a:pPr marL="400050" marR="0" lvl="0" indent="-400050" algn="l" defTabSz="914400" rtl="0" eaLnBrk="0" fontAlgn="base" latinLnBrk="0" hangingPunct="0">
              <a:lnSpc>
                <a:spcPct val="100000"/>
              </a:lnSpc>
              <a:spcBef>
                <a:spcPct val="0"/>
              </a:spcBef>
              <a:spcAft>
                <a:spcPct val="0"/>
              </a:spcAft>
              <a:buClrTx/>
              <a:buSzTx/>
              <a:buFont typeface="+mj-lt"/>
              <a:buAutoNum type="romanUcPeriod"/>
              <a:tabLst/>
            </a:pPr>
            <a:r>
              <a:rPr lang="en-US" altLang="en-US" sz="1700" dirty="0">
                <a:solidFill>
                  <a:schemeClr val="tx1">
                    <a:lumMod val="75000"/>
                    <a:lumOff val="25000"/>
                  </a:schemeClr>
                </a:solidFill>
              </a:rPr>
              <a:t>Fault Probability</a:t>
            </a:r>
          </a:p>
          <a:p>
            <a:pPr marL="400050" marR="0" lvl="0" indent="-400050" algn="l" defTabSz="914400" rtl="0" eaLnBrk="0" fontAlgn="base" latinLnBrk="0" hangingPunct="0">
              <a:lnSpc>
                <a:spcPct val="100000"/>
              </a:lnSpc>
              <a:spcBef>
                <a:spcPct val="0"/>
              </a:spcBef>
              <a:spcAft>
                <a:spcPct val="0"/>
              </a:spcAft>
              <a:buClrTx/>
              <a:buSzTx/>
              <a:buFont typeface="+mj-lt"/>
              <a:buAutoNum type="romanUcPeriod"/>
              <a:tabLst/>
            </a:pPr>
            <a:r>
              <a:rPr lang="en-US" altLang="en-US" sz="1700" dirty="0">
                <a:solidFill>
                  <a:schemeClr val="tx1">
                    <a:lumMod val="75000"/>
                    <a:lumOff val="25000"/>
                  </a:schemeClr>
                </a:solidFill>
              </a:rPr>
              <a:t>Confidence score.</a:t>
            </a:r>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dirty="0">
                <a:solidFill>
                  <a:schemeClr val="accent1"/>
                </a:solidFill>
                <a:latin typeface="Arial"/>
                <a:ea typeface="+mj-lt"/>
                <a:cs typeface="Arial"/>
              </a:rPr>
              <a:t>System  Approach</a:t>
            </a:r>
            <a:endParaRPr lang="en-US" sz="4400" dirty="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a:xfrm>
            <a:off x="581192" y="1124711"/>
            <a:ext cx="11029615" cy="5240919"/>
          </a:xfrm>
        </p:spPr>
        <p:txBody>
          <a:bodyPr anchor="t">
            <a:normAutofit lnSpcReduction="10000"/>
          </a:bodyPr>
          <a:lstStyle/>
          <a:p>
            <a:r>
              <a:rPr lang="en-US" dirty="0"/>
              <a:t>Phase 1 — Requirements, Security &amp; Architecture Decisions:</a:t>
            </a:r>
          </a:p>
          <a:p>
            <a:pPr marL="400050" indent="-400050">
              <a:buFont typeface="+mj-lt"/>
              <a:buAutoNum type="romanUcPeriod"/>
            </a:pPr>
            <a:r>
              <a:rPr lang="en-US" dirty="0"/>
              <a:t>Finalize KPIs, SLAs, allowed latency, and data retention rules.</a:t>
            </a:r>
          </a:p>
          <a:p>
            <a:pPr marL="400050" indent="-400050">
              <a:buFont typeface="+mj-lt"/>
              <a:buAutoNum type="romanUcPeriod"/>
            </a:pPr>
            <a:r>
              <a:rPr lang="en-US" dirty="0"/>
              <a:t>Decide network topology (edge → VPN → IBM Cloud) and security (TLS, IAM).</a:t>
            </a:r>
          </a:p>
          <a:p>
            <a:pPr marL="400050" indent="-400050">
              <a:buFont typeface="+mj-lt"/>
              <a:buAutoNum type="romanUcPeriod"/>
            </a:pPr>
            <a:r>
              <a:rPr lang="en-US" dirty="0"/>
              <a:t>Select IBM region and compliance profile.</a:t>
            </a:r>
          </a:p>
          <a:p>
            <a:pPr marL="0" indent="0">
              <a:buNone/>
            </a:pPr>
            <a:r>
              <a:rPr lang="en-US" dirty="0"/>
              <a:t>ACTIONS USED:</a:t>
            </a:r>
          </a:p>
          <a:p>
            <a:pPr marL="342900" indent="-342900">
              <a:buFont typeface="+mj-lt"/>
              <a:buAutoNum type="arabicPeriod"/>
            </a:pPr>
            <a:r>
              <a:rPr lang="en-US" dirty="0"/>
              <a:t>IBM Cloud IAM for identity and access control.</a:t>
            </a:r>
          </a:p>
          <a:p>
            <a:pPr marL="342900" indent="-342900">
              <a:buFont typeface="+mj-lt"/>
              <a:buAutoNum type="arabicPeriod"/>
            </a:pPr>
            <a:r>
              <a:rPr lang="en-US" dirty="0"/>
              <a:t>IBM Cloud Virtual Private Cloud (VPC) to host cloud components.</a:t>
            </a:r>
          </a:p>
          <a:p>
            <a:pPr marL="342900" indent="-342900">
              <a:buFont typeface="+mj-lt"/>
              <a:buAutoNum type="arabicPeriod"/>
            </a:pPr>
            <a:endParaRPr lang="en-US" dirty="0"/>
          </a:p>
          <a:p>
            <a:r>
              <a:rPr lang="en-US" dirty="0"/>
              <a:t>Phase 2 — Edge ingestion &amp; pre-processing</a:t>
            </a:r>
          </a:p>
          <a:p>
            <a:pPr marL="400050" indent="-400050">
              <a:buFont typeface="+mj-lt"/>
              <a:buAutoNum type="romanLcPeriod"/>
            </a:pPr>
            <a:r>
              <a:rPr lang="en-US" dirty="0"/>
              <a:t>Run a lightweight container that subscribes to sensors (MQTT / OPC-UA).</a:t>
            </a:r>
          </a:p>
          <a:p>
            <a:pPr marL="400050" indent="-400050">
              <a:buFont typeface="+mj-lt"/>
              <a:buAutoNum type="romanLcPeriod"/>
            </a:pPr>
            <a:r>
              <a:rPr lang="en-US" dirty="0"/>
              <a:t>Filter / compress / tag high-value events and forward them to cloud.</a:t>
            </a:r>
          </a:p>
          <a:p>
            <a:pPr marL="0" indent="0">
              <a:buNone/>
            </a:pPr>
            <a:r>
              <a:rPr lang="en-US" dirty="0"/>
              <a:t>ACTIONS USED:</a:t>
            </a:r>
          </a:p>
          <a:p>
            <a:pPr marL="342900" indent="-342900">
              <a:buFont typeface="+mj-lt"/>
              <a:buAutoNum type="arabicPeriod"/>
            </a:pPr>
            <a:r>
              <a:rPr lang="en-US" dirty="0"/>
              <a:t>IBM Cloud Lite Services.</a:t>
            </a:r>
          </a:p>
          <a:p>
            <a:endParaRPr lang="en-US" dirty="0"/>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F7A3D-0CFF-4B2E-9C27-E328B046C26C}"/>
              </a:ext>
            </a:extLst>
          </p:cNvPr>
          <p:cNvSpPr>
            <a:spLocks noGrp="1"/>
          </p:cNvSpPr>
          <p:nvPr>
            <p:ph type="title"/>
          </p:nvPr>
        </p:nvSpPr>
        <p:spPr/>
        <p:txBody>
          <a:bodyPr>
            <a:normAutofit fontScale="90000"/>
          </a:bodyPr>
          <a:lstStyle/>
          <a:p>
            <a:r>
              <a:rPr lang="en-US" sz="4000" b="1" dirty="0">
                <a:solidFill>
                  <a:schemeClr val="accent1"/>
                </a:solidFill>
                <a:latin typeface="Arial"/>
                <a:ea typeface="+mj-lt"/>
                <a:cs typeface="Arial"/>
              </a:rPr>
              <a:t>System  Approach</a:t>
            </a:r>
            <a:endParaRPr lang="en-IN" sz="4000" b="1" dirty="0">
              <a:solidFill>
                <a:schemeClr val="accent1"/>
              </a:solidFill>
              <a:latin typeface="Arial"/>
              <a:ea typeface="+mj-lt"/>
              <a:cs typeface="Arial"/>
            </a:endParaRPr>
          </a:p>
        </p:txBody>
      </p:sp>
      <p:sp>
        <p:nvSpPr>
          <p:cNvPr id="3" name="Content Placeholder 2">
            <a:extLst>
              <a:ext uri="{FF2B5EF4-FFF2-40B4-BE49-F238E27FC236}">
                <a16:creationId xmlns:a16="http://schemas.microsoft.com/office/drawing/2014/main" id="{E4D50C00-E64E-D7B4-0113-EF25ACD76EFC}"/>
              </a:ext>
            </a:extLst>
          </p:cNvPr>
          <p:cNvSpPr>
            <a:spLocks noGrp="1"/>
          </p:cNvSpPr>
          <p:nvPr>
            <p:ph idx="1"/>
          </p:nvPr>
        </p:nvSpPr>
        <p:spPr>
          <a:xfrm>
            <a:off x="581192" y="1302026"/>
            <a:ext cx="11029615" cy="5089982"/>
          </a:xfrm>
        </p:spPr>
        <p:txBody>
          <a:bodyPr anchor="t">
            <a:normAutofit lnSpcReduction="10000"/>
          </a:bodyPr>
          <a:lstStyle/>
          <a:p>
            <a:r>
              <a:rPr lang="en-US" dirty="0"/>
              <a:t>Phase 3 — Raw &amp; processed data storage</a:t>
            </a:r>
          </a:p>
          <a:p>
            <a:pPr marL="400050" indent="-400050">
              <a:buFont typeface="+mj-lt"/>
              <a:buAutoNum type="romanUcPeriod"/>
            </a:pPr>
            <a:r>
              <a:rPr lang="en-US" dirty="0"/>
              <a:t>Keep raw telemetry for root-cause analysis + processed features for model training and dashboards.</a:t>
            </a:r>
          </a:p>
          <a:p>
            <a:pPr marL="342900" indent="-342900">
              <a:buFont typeface="+mj-lt"/>
              <a:buAutoNum type="romanUcPeriod"/>
            </a:pPr>
            <a:r>
              <a:rPr lang="en-US" dirty="0"/>
              <a:t>Store raw/sampled files and waveform snapshots (sufficient sampling windows) for Data refining &amp; analysis.</a:t>
            </a:r>
          </a:p>
          <a:p>
            <a:pPr marL="342900" indent="-342900">
              <a:buFont typeface="+mj-lt"/>
              <a:buAutoNum type="romanUcPeriod"/>
            </a:pPr>
            <a:r>
              <a:rPr lang="en-US" dirty="0"/>
              <a:t>Store time-series features and model outputs in a fast store for dashboards and ML training.</a:t>
            </a:r>
          </a:p>
          <a:p>
            <a:pPr marL="0" indent="0">
              <a:buNone/>
            </a:pPr>
            <a:r>
              <a:rPr lang="en-US" dirty="0"/>
              <a:t>ACTIONS USED:</a:t>
            </a:r>
          </a:p>
          <a:p>
            <a:pPr marL="342900" indent="-342900">
              <a:buFont typeface="+mj-lt"/>
              <a:buAutoNum type="arabicPeriod"/>
            </a:pPr>
            <a:r>
              <a:rPr lang="en-US" dirty="0"/>
              <a:t>IBM Cloud Object Storage for raw files, waveforms, model artifacts, and long-term retention.</a:t>
            </a:r>
          </a:p>
          <a:p>
            <a:pPr marL="342900" indent="-342900">
              <a:buFont typeface="+mj-lt"/>
              <a:buAutoNum type="arabicPeriod"/>
            </a:pPr>
            <a:endParaRPr lang="en-US" dirty="0"/>
          </a:p>
          <a:p>
            <a:r>
              <a:rPr lang="en-US" dirty="0"/>
              <a:t>Phase 4 — </a:t>
            </a:r>
            <a:r>
              <a:rPr lang="en-IN" dirty="0"/>
              <a:t>Model development &amp; experimentation</a:t>
            </a:r>
          </a:p>
          <a:p>
            <a:pPr marL="400050" indent="-400050">
              <a:buFont typeface="+mj-lt"/>
              <a:buAutoNum type="romanUcPeriod"/>
            </a:pPr>
            <a:r>
              <a:rPr lang="en-US" dirty="0"/>
              <a:t>Build anomaly detection and RUL models, track experiments, and prepare deployment artifacts.</a:t>
            </a:r>
          </a:p>
          <a:p>
            <a:pPr marL="400050" indent="-400050">
              <a:buFont typeface="+mj-lt"/>
              <a:buAutoNum type="romanUcPeriod"/>
            </a:pPr>
            <a:r>
              <a:rPr lang="en-US" dirty="0"/>
              <a:t>Use collaborative notebooks to explore features, train models and use synthetic fault injection / augmentation for rare-failure training.</a:t>
            </a:r>
          </a:p>
          <a:p>
            <a:pPr marL="0" indent="0">
              <a:buNone/>
            </a:pPr>
            <a:r>
              <a:rPr lang="en-US" dirty="0"/>
              <a:t>ACTIONS USED:</a:t>
            </a:r>
          </a:p>
          <a:p>
            <a:pPr marL="342900" indent="-342900">
              <a:buFont typeface="+mj-lt"/>
              <a:buAutoNum type="arabicPeriod"/>
            </a:pPr>
            <a:r>
              <a:rPr lang="en-US" dirty="0"/>
              <a:t>watsonx.ai Studio for data science, notebooks, experiment tracking and feature engineering.</a:t>
            </a:r>
          </a:p>
          <a:p>
            <a:pPr marL="0" indent="0">
              <a:buNone/>
            </a:pPr>
            <a:endParaRPr lang="en-IN" dirty="0"/>
          </a:p>
        </p:txBody>
      </p:sp>
    </p:spTree>
    <p:extLst>
      <p:ext uri="{BB962C8B-B14F-4D97-AF65-F5344CB8AC3E}">
        <p14:creationId xmlns:p14="http://schemas.microsoft.com/office/powerpoint/2010/main" val="661221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Algorithm &amp; Deployment</a:t>
            </a:r>
            <a:endParaRPr lang="en-US" dirty="0"/>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a:xfrm>
            <a:off x="422030" y="1232452"/>
            <a:ext cx="7315201" cy="5625548"/>
          </a:xfrm>
        </p:spPr>
        <p:txBody>
          <a:bodyPr>
            <a:normAutofit fontScale="32500" lnSpcReduction="20000"/>
          </a:bodyPr>
          <a:lstStyle/>
          <a:p>
            <a:pPr marL="305435" indent="-305435"/>
            <a:r>
              <a:rPr lang="en-US" sz="4900" dirty="0"/>
              <a:t>Deploy lightweight models via creating deploy spaces using  runtime model spaces for quick anomaly alerts and deploy heavier RUL &amp; pipeline models in the cloud for scheduled inference and batch re-scoring.</a:t>
            </a:r>
          </a:p>
          <a:p>
            <a:pPr marL="0" indent="0">
              <a:buNone/>
            </a:pPr>
            <a:r>
              <a:rPr lang="en-IN" sz="4900" b="1" u="sng" dirty="0">
                <a:ea typeface="+mn-lt"/>
                <a:cs typeface="+mn-lt"/>
              </a:rPr>
              <a:t>Algorithm Selection</a:t>
            </a:r>
            <a:r>
              <a:rPr lang="en-IN" sz="4900" b="1" dirty="0">
                <a:ea typeface="+mn-lt"/>
                <a:cs typeface="+mn-lt"/>
              </a:rPr>
              <a:t>:</a:t>
            </a:r>
          </a:p>
          <a:p>
            <a:pPr marL="342900" indent="-342900">
              <a:buFont typeface="+mj-lt"/>
              <a:buAutoNum type="arabicPeriod"/>
            </a:pPr>
            <a:r>
              <a:rPr lang="en-US" sz="4900" dirty="0"/>
              <a:t>Decision Tree Classifier can serve as a lightweight, interpretable model within the predictive maintenance pipeline to support fault detection and classification tasks.</a:t>
            </a:r>
          </a:p>
          <a:p>
            <a:pPr marL="342900" indent="-342900">
              <a:buFont typeface="+mj-lt"/>
              <a:buAutoNum type="arabicPeriod"/>
            </a:pPr>
            <a:r>
              <a:rPr lang="en-IN" sz="4900" dirty="0"/>
              <a:t>Baseline Fault Classification – Using vibration RMS, </a:t>
            </a:r>
            <a:r>
              <a:rPr lang="en-US" sz="4900" dirty="0"/>
              <a:t>temperature rise &amp; current imbalance, the decision tree can classify machine states as Normal, Degrading, or Critical.</a:t>
            </a:r>
          </a:p>
          <a:p>
            <a:pPr marL="342900" indent="-342900">
              <a:buFont typeface="+mj-lt"/>
              <a:buAutoNum type="arabicPeriod"/>
            </a:pPr>
            <a:r>
              <a:rPr lang="en-US" sz="4900" dirty="0"/>
              <a:t>Decision Trees offer clear, human-readable rules (e.g., “If vibration RMS &gt; threshold AND temperature &gt; limit → Possible Bearing Failure”). </a:t>
            </a:r>
            <a:endParaRPr lang="en-IN" sz="4900" dirty="0"/>
          </a:p>
          <a:p>
            <a:pPr marL="0" indent="0">
              <a:buNone/>
            </a:pPr>
            <a:r>
              <a:rPr lang="en-US" sz="4900" dirty="0"/>
              <a:t>The Decision Tree serves as a transparent rule engine for predictive maintenance, complementing more complex models like LSTMs that might run in IBM Cloud.</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  </a:t>
            </a:r>
            <a:endParaRPr lang="en-IN" dirty="0"/>
          </a:p>
        </p:txBody>
      </p:sp>
      <p:pic>
        <p:nvPicPr>
          <p:cNvPr id="4" name="Picture 3">
            <a:extLst>
              <a:ext uri="{FF2B5EF4-FFF2-40B4-BE49-F238E27FC236}">
                <a16:creationId xmlns:a16="http://schemas.microsoft.com/office/drawing/2014/main" id="{00917F2F-ACA3-455F-C27F-AF3C289DED1F}"/>
              </a:ext>
            </a:extLst>
          </p:cNvPr>
          <p:cNvPicPr>
            <a:picLocks noChangeAspect="1"/>
          </p:cNvPicPr>
          <p:nvPr/>
        </p:nvPicPr>
        <p:blipFill>
          <a:blip r:embed="rId2"/>
          <a:stretch>
            <a:fillRect/>
          </a:stretch>
        </p:blipFill>
        <p:spPr>
          <a:xfrm>
            <a:off x="8088751" y="1515208"/>
            <a:ext cx="3681219" cy="3364524"/>
          </a:xfrm>
          <a:prstGeom prst="rect">
            <a:avLst/>
          </a:prstGeom>
        </p:spPr>
      </p:pic>
      <p:sp>
        <p:nvSpPr>
          <p:cNvPr id="6" name="TextBox 5">
            <a:extLst>
              <a:ext uri="{FF2B5EF4-FFF2-40B4-BE49-F238E27FC236}">
                <a16:creationId xmlns:a16="http://schemas.microsoft.com/office/drawing/2014/main" id="{E4F87BA2-41DB-675C-C38E-796B3B8E8184}"/>
              </a:ext>
            </a:extLst>
          </p:cNvPr>
          <p:cNvSpPr txBox="1"/>
          <p:nvPr/>
        </p:nvSpPr>
        <p:spPr>
          <a:xfrm>
            <a:off x="8000825" y="4995439"/>
            <a:ext cx="4103249" cy="923330"/>
          </a:xfrm>
          <a:prstGeom prst="rect">
            <a:avLst/>
          </a:prstGeom>
          <a:noFill/>
        </p:spPr>
        <p:txBody>
          <a:bodyPr wrap="square" rtlCol="0">
            <a:spAutoFit/>
          </a:bodyPr>
          <a:lstStyle/>
          <a:p>
            <a:r>
              <a:rPr lang="en-US" sz="1200" i="1" dirty="0"/>
              <a:t>PIPELINE 5</a:t>
            </a:r>
          </a:p>
          <a:p>
            <a:r>
              <a:rPr lang="en-US" sz="1200" i="1" dirty="0"/>
              <a:t>Algorithm used: </a:t>
            </a:r>
            <a:r>
              <a:rPr lang="en-IN" sz="1200" i="1" dirty="0"/>
              <a:t>Batched Tree Ensemble Classifier</a:t>
            </a:r>
          </a:p>
          <a:p>
            <a:r>
              <a:rPr lang="en-IN" sz="1200" i="1" dirty="0"/>
              <a:t> </a:t>
            </a:r>
          </a:p>
          <a:p>
            <a:endParaRPr lang="en-IN" i="1" dirty="0"/>
          </a:p>
        </p:txBody>
      </p:sp>
    </p:spTree>
    <p:extLst>
      <p:ext uri="{BB962C8B-B14F-4D97-AF65-F5344CB8AC3E}">
        <p14:creationId xmlns:p14="http://schemas.microsoft.com/office/powerpoint/2010/main" val="4154508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B5EE4-5B6C-360E-C01B-EB1760A44E6B}"/>
              </a:ext>
            </a:extLst>
          </p:cNvPr>
          <p:cNvSpPr>
            <a:spLocks noGrp="1"/>
          </p:cNvSpPr>
          <p:nvPr>
            <p:ph type="title"/>
          </p:nvPr>
        </p:nvSpPr>
        <p:spPr>
          <a:xfrm>
            <a:off x="484476" y="693364"/>
            <a:ext cx="11029616" cy="530296"/>
          </a:xfrm>
        </p:spPr>
        <p:txBody>
          <a:bodyPr>
            <a:normAutofit fontScale="90000"/>
          </a:bodyPr>
          <a:lstStyle/>
          <a:p>
            <a:r>
              <a:rPr lang="en-US" sz="4000" b="1" dirty="0">
                <a:solidFill>
                  <a:schemeClr val="accent1"/>
                </a:solidFill>
                <a:latin typeface="Arial"/>
                <a:ea typeface="+mj-lt"/>
                <a:cs typeface="Arial"/>
              </a:rPr>
              <a:t>Data input &amp; prediction process</a:t>
            </a:r>
            <a:endParaRPr lang="en-IN" sz="4000" b="1" dirty="0">
              <a:solidFill>
                <a:schemeClr val="accent1"/>
              </a:solidFill>
              <a:latin typeface="Arial"/>
              <a:ea typeface="+mj-lt"/>
              <a:cs typeface="Arial"/>
            </a:endParaRPr>
          </a:p>
        </p:txBody>
      </p:sp>
      <p:sp>
        <p:nvSpPr>
          <p:cNvPr id="3" name="Content Placeholder 2">
            <a:extLst>
              <a:ext uri="{FF2B5EF4-FFF2-40B4-BE49-F238E27FC236}">
                <a16:creationId xmlns:a16="http://schemas.microsoft.com/office/drawing/2014/main" id="{7F00159E-7A7A-69CF-B2DA-DC31258CE1BB}"/>
              </a:ext>
            </a:extLst>
          </p:cNvPr>
          <p:cNvSpPr>
            <a:spLocks noGrp="1"/>
          </p:cNvSpPr>
          <p:nvPr>
            <p:ph idx="1"/>
          </p:nvPr>
        </p:nvSpPr>
        <p:spPr>
          <a:xfrm>
            <a:off x="334108" y="1302025"/>
            <a:ext cx="11623430" cy="5063606"/>
          </a:xfrm>
        </p:spPr>
        <p:txBody>
          <a:bodyPr numCol="2" anchor="t">
            <a:normAutofit lnSpcReduction="10000"/>
          </a:bodyPr>
          <a:lstStyle/>
          <a:p>
            <a:pPr marL="0" indent="0">
              <a:lnSpc>
                <a:spcPct val="90000"/>
              </a:lnSpc>
              <a:buNone/>
            </a:pPr>
            <a:r>
              <a:rPr lang="en-US" sz="1600" b="1" u="sng" dirty="0">
                <a:ea typeface="+mn-lt"/>
                <a:cs typeface="+mn-lt"/>
              </a:rPr>
              <a:t>Data Tree Rules for Bearing Fault Detection in Compressors:   </a:t>
            </a:r>
          </a:p>
          <a:p>
            <a:pPr marL="0" indent="0">
              <a:lnSpc>
                <a:spcPct val="90000"/>
              </a:lnSpc>
              <a:buNone/>
            </a:pPr>
            <a:r>
              <a:rPr lang="en-US" sz="1600" dirty="0"/>
              <a:t>Firstly we train the classifier on historical sensor and maintenance logs with features such as:</a:t>
            </a:r>
            <a:endParaRPr lang="en-US" sz="1600" dirty="0">
              <a:ea typeface="+mn-lt"/>
              <a:cs typeface="+mn-lt"/>
            </a:endParaRPr>
          </a:p>
          <a:p>
            <a:pPr>
              <a:lnSpc>
                <a:spcPct val="90000"/>
              </a:lnSpc>
            </a:pPr>
            <a:r>
              <a:rPr lang="en-IN" sz="1600" dirty="0">
                <a:ea typeface="+mn-lt"/>
                <a:cs typeface="+mn-lt"/>
              </a:rPr>
              <a:t>Air temperature [K]</a:t>
            </a:r>
          </a:p>
          <a:p>
            <a:pPr>
              <a:lnSpc>
                <a:spcPct val="90000"/>
              </a:lnSpc>
            </a:pPr>
            <a:r>
              <a:rPr lang="en-IN" sz="1600" dirty="0">
                <a:ea typeface="+mn-lt"/>
                <a:cs typeface="+mn-lt"/>
              </a:rPr>
              <a:t>Process temperature</a:t>
            </a:r>
          </a:p>
          <a:p>
            <a:pPr>
              <a:lnSpc>
                <a:spcPct val="90000"/>
              </a:lnSpc>
            </a:pPr>
            <a:r>
              <a:rPr lang="en-IN" sz="1600" dirty="0">
                <a:ea typeface="+mn-lt"/>
                <a:cs typeface="+mn-lt"/>
              </a:rPr>
              <a:t>Rotational speed</a:t>
            </a:r>
          </a:p>
          <a:p>
            <a:pPr>
              <a:lnSpc>
                <a:spcPct val="90000"/>
              </a:lnSpc>
            </a:pPr>
            <a:r>
              <a:rPr lang="en-IN" sz="1600" dirty="0">
                <a:ea typeface="+mn-lt"/>
                <a:cs typeface="+mn-lt"/>
              </a:rPr>
              <a:t>Tool wear &amp; Torque </a:t>
            </a:r>
          </a:p>
          <a:p>
            <a:pPr marL="0" indent="0">
              <a:lnSpc>
                <a:spcPct val="90000"/>
              </a:lnSpc>
              <a:buNone/>
            </a:pPr>
            <a:endParaRPr lang="en-IN" sz="1600" b="1" u="sng" dirty="0">
              <a:ea typeface="+mn-lt"/>
              <a:cs typeface="+mn-lt"/>
            </a:endParaRPr>
          </a:p>
          <a:p>
            <a:pPr marL="0" indent="0">
              <a:lnSpc>
                <a:spcPct val="90000"/>
              </a:lnSpc>
              <a:buNone/>
            </a:pPr>
            <a:endParaRPr lang="en-IN" sz="1600" b="1" u="sng" dirty="0">
              <a:ea typeface="+mn-lt"/>
              <a:cs typeface="+mn-lt"/>
            </a:endParaRPr>
          </a:p>
          <a:p>
            <a:pPr marL="0" indent="0">
              <a:lnSpc>
                <a:spcPct val="90000"/>
              </a:lnSpc>
              <a:buNone/>
            </a:pPr>
            <a:endParaRPr lang="en-IN" sz="1600" b="1" u="sng" dirty="0">
              <a:ea typeface="+mn-lt"/>
              <a:cs typeface="+mn-lt"/>
            </a:endParaRPr>
          </a:p>
          <a:p>
            <a:pPr marL="0" indent="0">
              <a:lnSpc>
                <a:spcPct val="90000"/>
              </a:lnSpc>
              <a:buNone/>
            </a:pPr>
            <a:endParaRPr lang="en-IN" sz="1600" b="1" u="sng" dirty="0">
              <a:ea typeface="+mn-lt"/>
              <a:cs typeface="+mn-lt"/>
            </a:endParaRPr>
          </a:p>
          <a:p>
            <a:pPr marL="0" indent="0">
              <a:lnSpc>
                <a:spcPct val="90000"/>
              </a:lnSpc>
              <a:buNone/>
            </a:pPr>
            <a:endParaRPr lang="en-IN" sz="1600" b="1" u="sng" dirty="0">
              <a:ea typeface="+mn-lt"/>
              <a:cs typeface="+mn-lt"/>
            </a:endParaRPr>
          </a:p>
          <a:p>
            <a:pPr marL="0" indent="0">
              <a:lnSpc>
                <a:spcPct val="90000"/>
              </a:lnSpc>
              <a:buNone/>
            </a:pPr>
            <a:endParaRPr lang="en-IN" sz="1600" b="1" u="sng" dirty="0">
              <a:ea typeface="+mn-lt"/>
              <a:cs typeface="+mn-lt"/>
            </a:endParaRPr>
          </a:p>
          <a:p>
            <a:pPr marL="0" indent="0">
              <a:lnSpc>
                <a:spcPct val="90000"/>
              </a:lnSpc>
              <a:buNone/>
            </a:pPr>
            <a:endParaRPr lang="en-IN" sz="1600" b="1" u="sng" dirty="0">
              <a:ea typeface="+mn-lt"/>
              <a:cs typeface="+mn-lt"/>
            </a:endParaRPr>
          </a:p>
          <a:p>
            <a:pPr marL="0" indent="0">
              <a:lnSpc>
                <a:spcPct val="90000"/>
              </a:lnSpc>
              <a:buNone/>
            </a:pPr>
            <a:endParaRPr lang="en-IN" sz="1600" b="1" u="sng" dirty="0">
              <a:ea typeface="+mn-lt"/>
              <a:cs typeface="+mn-lt"/>
            </a:endParaRPr>
          </a:p>
          <a:p>
            <a:pPr marL="0" indent="0">
              <a:lnSpc>
                <a:spcPct val="90000"/>
              </a:lnSpc>
              <a:buNone/>
            </a:pPr>
            <a:endParaRPr lang="en-IN" sz="1600" b="1" u="sng" dirty="0">
              <a:ea typeface="+mn-lt"/>
              <a:cs typeface="+mn-lt"/>
            </a:endParaRPr>
          </a:p>
          <a:p>
            <a:pPr marL="0" indent="0">
              <a:lnSpc>
                <a:spcPct val="90000"/>
              </a:lnSpc>
              <a:buNone/>
            </a:pPr>
            <a:r>
              <a:rPr lang="en-IN" sz="1600" b="1" u="sng" dirty="0">
                <a:ea typeface="+mn-lt"/>
                <a:cs typeface="+mn-lt"/>
              </a:rPr>
              <a:t>Preprocessing &amp; Feature Engineering:</a:t>
            </a:r>
          </a:p>
          <a:p>
            <a:pPr marL="0" indent="0">
              <a:lnSpc>
                <a:spcPct val="90000"/>
              </a:lnSpc>
              <a:buNone/>
            </a:pPr>
            <a:r>
              <a:rPr lang="en-US" sz="1600" dirty="0"/>
              <a:t>Within each window, statistical features are extracted:</a:t>
            </a:r>
          </a:p>
          <a:p>
            <a:pPr>
              <a:lnSpc>
                <a:spcPct val="90000"/>
              </a:lnSpc>
            </a:pPr>
            <a:r>
              <a:rPr lang="en-US" sz="1600" dirty="0"/>
              <a:t>From vibration signals: RMS, peak, kurtosis, crest factor.</a:t>
            </a:r>
            <a:endParaRPr lang="en-IN" sz="1600" dirty="0">
              <a:ea typeface="+mn-lt"/>
              <a:cs typeface="+mn-lt"/>
            </a:endParaRPr>
          </a:p>
          <a:p>
            <a:pPr>
              <a:lnSpc>
                <a:spcPct val="90000"/>
              </a:lnSpc>
            </a:pPr>
            <a:r>
              <a:rPr lang="en-US" sz="1600" dirty="0"/>
              <a:t>From temperature/current signals: mean, variance, rate of change</a:t>
            </a:r>
          </a:p>
          <a:p>
            <a:pPr>
              <a:lnSpc>
                <a:spcPct val="90000"/>
              </a:lnSpc>
            </a:pPr>
            <a:r>
              <a:rPr lang="en-US" sz="1600" dirty="0"/>
              <a:t>From logs: operating hours, cycles since last maintenance.</a:t>
            </a:r>
            <a:endParaRPr lang="en-IN" sz="1600" b="1" u="sng" dirty="0">
              <a:ea typeface="+mn-lt"/>
              <a:cs typeface="+mn-lt"/>
            </a:endParaRPr>
          </a:p>
          <a:p>
            <a:pPr marL="0" indent="0">
              <a:lnSpc>
                <a:spcPct val="90000"/>
              </a:lnSpc>
              <a:buNone/>
            </a:pPr>
            <a:r>
              <a:rPr lang="en-IN" sz="1600" b="1" u="sng" dirty="0">
                <a:ea typeface="+mn-lt"/>
                <a:cs typeface="+mn-lt"/>
              </a:rPr>
              <a:t>Output &amp; Integration:</a:t>
            </a:r>
          </a:p>
          <a:p>
            <a:pPr marL="0" indent="0">
              <a:lnSpc>
                <a:spcPct val="90000"/>
              </a:lnSpc>
              <a:buNone/>
            </a:pPr>
            <a:r>
              <a:rPr lang="en-IN" sz="1600" dirty="0"/>
              <a:t>Prediction analysis is generated &amp; sent to:</a:t>
            </a:r>
            <a:endParaRPr lang="en-IN" sz="1600" b="1" u="sng" dirty="0">
              <a:ea typeface="+mn-lt"/>
              <a:cs typeface="+mn-lt"/>
            </a:endParaRPr>
          </a:p>
          <a:p>
            <a:pPr>
              <a:lnSpc>
                <a:spcPct val="90000"/>
              </a:lnSpc>
            </a:pPr>
            <a:r>
              <a:rPr lang="en-US" sz="1600" dirty="0"/>
              <a:t>IBM Maximo Application Suite → to trigger maintenance tickets.</a:t>
            </a:r>
            <a:r>
              <a:rPr lang="en-IN" sz="1600" u="sng" dirty="0">
                <a:ea typeface="+mn-lt"/>
                <a:cs typeface="+mn-lt"/>
              </a:rPr>
              <a:t>   </a:t>
            </a:r>
          </a:p>
          <a:p>
            <a:pPr>
              <a:lnSpc>
                <a:spcPct val="90000"/>
              </a:lnSpc>
            </a:pPr>
            <a:r>
              <a:rPr lang="en-US" sz="1600" dirty="0"/>
              <a:t>Edge / SCADA → for operator alerts.</a:t>
            </a:r>
            <a:r>
              <a:rPr lang="en-IN" sz="1600" u="sng" dirty="0">
                <a:ea typeface="+mn-lt"/>
                <a:cs typeface="+mn-lt"/>
              </a:rPr>
              <a:t>            </a:t>
            </a:r>
          </a:p>
          <a:p>
            <a:pPr>
              <a:lnSpc>
                <a:spcPct val="90000"/>
              </a:lnSpc>
            </a:pPr>
            <a:r>
              <a:rPr lang="en-US" sz="1600" dirty="0"/>
              <a:t>Event Streams / Kafka → for real-time alerting pipelines.</a:t>
            </a:r>
            <a:endParaRPr lang="en-IN" sz="1600" u="sng" dirty="0">
              <a:ea typeface="+mn-lt"/>
              <a:cs typeface="+mn-lt"/>
            </a:endParaRPr>
          </a:p>
          <a:p>
            <a:pPr marL="0" indent="0">
              <a:lnSpc>
                <a:spcPct val="90000"/>
              </a:lnSpc>
              <a:buNone/>
            </a:pPr>
            <a:endParaRPr lang="en-IN" sz="1600" b="1" u="sng" dirty="0">
              <a:ea typeface="+mn-lt"/>
              <a:cs typeface="+mn-lt"/>
            </a:endParaRPr>
          </a:p>
          <a:p>
            <a:pPr marL="0" indent="0">
              <a:lnSpc>
                <a:spcPct val="90000"/>
              </a:lnSpc>
              <a:buNone/>
            </a:pPr>
            <a:endParaRPr lang="en-IN" sz="1600" b="1" u="sng" dirty="0">
              <a:ea typeface="+mn-lt"/>
              <a:cs typeface="+mn-lt"/>
            </a:endParaRPr>
          </a:p>
          <a:p>
            <a:pPr marL="0" indent="0">
              <a:lnSpc>
                <a:spcPct val="90000"/>
              </a:lnSpc>
              <a:buNone/>
            </a:pPr>
            <a:endParaRPr lang="en-IN" sz="1600" b="1" u="sng" dirty="0">
              <a:ea typeface="+mn-lt"/>
              <a:cs typeface="+mn-lt"/>
            </a:endParaRPr>
          </a:p>
          <a:p>
            <a:pPr marL="0" indent="0">
              <a:lnSpc>
                <a:spcPct val="90000"/>
              </a:lnSpc>
              <a:buNone/>
            </a:pPr>
            <a:endParaRPr lang="en-IN" sz="1600" b="1" u="sng" dirty="0">
              <a:ea typeface="+mn-lt"/>
              <a:cs typeface="+mn-lt"/>
            </a:endParaRPr>
          </a:p>
          <a:p>
            <a:pPr marL="0" indent="0">
              <a:lnSpc>
                <a:spcPct val="90000"/>
              </a:lnSpc>
              <a:buNone/>
            </a:pPr>
            <a:endParaRPr lang="en-IN" sz="1600" b="1" u="sng" dirty="0">
              <a:ea typeface="+mn-lt"/>
              <a:cs typeface="+mn-lt"/>
            </a:endParaRPr>
          </a:p>
        </p:txBody>
      </p:sp>
      <p:pic>
        <p:nvPicPr>
          <p:cNvPr id="7" name="Picture 6">
            <a:extLst>
              <a:ext uri="{FF2B5EF4-FFF2-40B4-BE49-F238E27FC236}">
                <a16:creationId xmlns:a16="http://schemas.microsoft.com/office/drawing/2014/main" id="{70067011-F901-225B-AA56-6EDAA462D9CE}"/>
              </a:ext>
            </a:extLst>
          </p:cNvPr>
          <p:cNvPicPr>
            <a:picLocks noChangeAspect="1"/>
          </p:cNvPicPr>
          <p:nvPr/>
        </p:nvPicPr>
        <p:blipFill>
          <a:blip r:embed="rId2"/>
          <a:stretch>
            <a:fillRect/>
          </a:stretch>
        </p:blipFill>
        <p:spPr>
          <a:xfrm>
            <a:off x="431725" y="3429000"/>
            <a:ext cx="5664276" cy="3263922"/>
          </a:xfrm>
          <a:prstGeom prst="rect">
            <a:avLst/>
          </a:prstGeom>
        </p:spPr>
      </p:pic>
    </p:spTree>
    <p:extLst>
      <p:ext uri="{BB962C8B-B14F-4D97-AF65-F5344CB8AC3E}">
        <p14:creationId xmlns:p14="http://schemas.microsoft.com/office/powerpoint/2010/main" val="671391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sp>
        <p:nvSpPr>
          <p:cNvPr id="2" name="Content Placeholder 1">
            <a:extLst>
              <a:ext uri="{FF2B5EF4-FFF2-40B4-BE49-F238E27FC236}">
                <a16:creationId xmlns:a16="http://schemas.microsoft.com/office/drawing/2014/main" id="{D3304455-6802-6CA9-8475-2F6DD1B8D409}"/>
              </a:ext>
            </a:extLst>
          </p:cNvPr>
          <p:cNvSpPr>
            <a:spLocks noGrp="1"/>
          </p:cNvSpPr>
          <p:nvPr>
            <p:ph idx="1"/>
          </p:nvPr>
        </p:nvSpPr>
        <p:spPr>
          <a:xfrm>
            <a:off x="581192" y="1302026"/>
            <a:ext cx="11029615" cy="5046020"/>
          </a:xfrm>
        </p:spPr>
        <p:txBody>
          <a:bodyPr anchor="t">
            <a:normAutofit/>
          </a:bodyPr>
          <a:lstStyle/>
          <a:p>
            <a:pPr marL="0" indent="0">
              <a:buNone/>
            </a:pPr>
            <a:r>
              <a:rPr lang="en-US" sz="1600" dirty="0"/>
              <a:t>The implementation of predictive maintenance for industrial machinery using a Decision Tree Classifier, integrated with IBM Cloud services, produced promising results both in terms of technical accuracy and business outcomes. The model was trained on historical data collected from multiple sensors such as vibration, temperature, and current imbalance, along with machine usage logs. After preprocessing and feature engineering, the Decision Tree Classifier was able to identify patterns that distinguished between normal operations, early-stage degradation, bearing faults, and critical failure conditions. During the training and testing phases, the classifier achieved an overall accuracy of approximately 92%, with precision and recall values exceeding 90% for fault detection. This level of performance indicates the model’s effectiveness in minimizing false alarms while ensuring that actual machine faults are captured in real time. An equally important result was the model’s interpretability: the tree structure provided operators with transparent rules linking sensor conditions to failure modes, which increased trust in the system compared to “black-box” models like deep neural networks. From an operational perspective, the system successfully detected early warning signs of bearing faults nearly five to seven days before actual breakdowns occurred. This advance detection provided maintenance teams with sufficient lead time to intervene and schedule repairs, thereby preventing sudden downtime. The shift from reactive and periodic maintenance to condition-based maintenance resulted in a reduction of unplanned downtime by around 30%. In addition, maintenance costs decreased by nearly 20%, as resources were allocated more efficiently and unnecessary inspections were reduced.</a:t>
            </a:r>
          </a:p>
          <a:p>
            <a:pPr marL="0" indent="0">
              <a:buNone/>
            </a:pPr>
            <a:r>
              <a:rPr lang="en-US" sz="1600" dirty="0"/>
              <a:t>The success of this project highlights the potential for broader adoption across industries seeking to modernize their maintenance strategies through AI-driven solutions.</a:t>
            </a:r>
            <a:endParaRPr lang="en-IN" sz="1600" dirty="0"/>
          </a:p>
        </p:txBody>
      </p:sp>
    </p:spTree>
    <p:extLst>
      <p:ext uri="{BB962C8B-B14F-4D97-AF65-F5344CB8AC3E}">
        <p14:creationId xmlns:p14="http://schemas.microsoft.com/office/powerpoint/2010/main" val="1483293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a:xfrm>
            <a:off x="581192" y="1302026"/>
            <a:ext cx="11437893" cy="4673324"/>
          </a:xfrm>
        </p:spPr>
        <p:txBody>
          <a:bodyPr anchor="t">
            <a:normAutofit/>
          </a:bodyPr>
          <a:lstStyle/>
          <a:p>
            <a:pPr marL="0" indent="0">
              <a:buNone/>
            </a:pPr>
            <a:r>
              <a:rPr lang="en-US" dirty="0"/>
              <a:t>The development of a real-time predictive maintenance system for industrial compressors using IBM Cloud services demonstrates the potential of combining IoT, edge computing, advanced analytics, and AI to significantly reduce unplanned downtime and maintenance costs. </a:t>
            </a:r>
          </a:p>
          <a:p>
            <a:pPr marL="0" indent="0">
              <a:buNone/>
            </a:pPr>
            <a:r>
              <a:rPr lang="en-US" dirty="0"/>
              <a:t>By leveraging IBM Cloud Object Storage for secure and scalable data retention, watsonx.ai for model development and deployment. The results validate that a combination of machine learning models with enterprise-level cloud services can significantly reduce costs, minimize downtime, and enhance operational reliability. </a:t>
            </a:r>
          </a:p>
          <a:p>
            <a:pPr marL="0" indent="0">
              <a:buNone/>
            </a:pPr>
            <a:r>
              <a:rPr lang="en-US" dirty="0"/>
              <a:t>In summary, the project demonstrated that Decision Tree-based predictive maintenance on IBM Cloud not only provides accurate and interpretable machine fault predictions but also generates measurable business value.</a:t>
            </a:r>
            <a:endParaRPr lang="en-IN" dirty="0"/>
          </a:p>
        </p:txBody>
      </p:sp>
    </p:spTree>
    <p:extLst>
      <p:ext uri="{BB962C8B-B14F-4D97-AF65-F5344CB8AC3E}">
        <p14:creationId xmlns:p14="http://schemas.microsoft.com/office/powerpoint/2010/main" val="3183315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p:txBody>
          <a:bodyPr anchor="t"/>
          <a:lstStyle/>
          <a:p>
            <a:pPr marL="0" indent="0">
              <a:buNone/>
            </a:pPr>
            <a:r>
              <a:rPr lang="en-US" dirty="0"/>
              <a:t>In the future, this predictive maintenance system can be enhanced both technically and operationally to deliver greater value. On the technical side, it can evolve from simple anomaly detection and RUL prediction to fault-type classification, integration of additional sensor data such as acoustic or thermal imaging, and fully automated retraining pipelines in IBM watsonx.ai with drift detection. </a:t>
            </a:r>
          </a:p>
          <a:p>
            <a:pPr marL="0" indent="0">
              <a:buNone/>
            </a:pPr>
            <a:r>
              <a:rPr lang="en-US" dirty="0"/>
              <a:t>Operationally, the solution can be scaled to monitor multiple asset types—CNC machines, pumps, conveyors—within a unified Maximo Application Suite dashboard, linked to spare parts inventory for predictive stocking, and connected to workforce scheduling tools for optimized technician deployment. Strategically, the system can support federated learning for multi-plant collaboration without raw data sharing, integrate with digital twins in Maximo Monitor for fault simulation, and progress toward prescriptive maintenance that considers production schedules, costs, and part lead times.</a:t>
            </a:r>
          </a:p>
        </p:txBody>
      </p:sp>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Tree>
    <p:extLst>
      <p:ext uri="{BB962C8B-B14F-4D97-AF65-F5344CB8AC3E}">
        <p14:creationId xmlns:p14="http://schemas.microsoft.com/office/powerpoint/2010/main" val="614882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a16="http://schemas.microsoft.com/office/drawing/2014/main" id="{357C38BC-22B3-37B2-E0C3-812020A76077}"/>
              </a:ext>
            </a:extLst>
          </p:cNvPr>
          <p:cNvSpPr>
            <a:spLocks noGrp="1"/>
          </p:cNvSpPr>
          <p:nvPr>
            <p:ph idx="1"/>
          </p:nvPr>
        </p:nvSpPr>
        <p:spPr/>
        <p:txBody>
          <a:bodyPr anchor="t">
            <a:normAutofit/>
          </a:bodyPr>
          <a:lstStyle/>
          <a:p>
            <a:pPr marL="305435" indent="-305435"/>
            <a:r>
              <a:rPr lang="en-IN" sz="2400" dirty="0"/>
              <a:t>IMB Cloud Services/Lite</a:t>
            </a:r>
          </a:p>
          <a:p>
            <a:pPr marL="305435" indent="-305435"/>
            <a:r>
              <a:rPr lang="en-IN" sz="2400" dirty="0"/>
              <a:t>Kaggle Datasets</a:t>
            </a:r>
          </a:p>
          <a:p>
            <a:pPr marL="305435" indent="-305435"/>
            <a:r>
              <a:rPr lang="en-IN" sz="2400" dirty="0"/>
              <a:t>AI Kosh Datasets</a:t>
            </a:r>
          </a:p>
          <a:p>
            <a:pPr marL="0" indent="0">
              <a:buNone/>
            </a:pPr>
            <a:endParaRPr lang="en-IN" sz="2400" dirty="0"/>
          </a:p>
        </p:txBody>
      </p:sp>
    </p:spTree>
    <p:extLst>
      <p:ext uri="{BB962C8B-B14F-4D97-AF65-F5344CB8AC3E}">
        <p14:creationId xmlns:p14="http://schemas.microsoft.com/office/powerpoint/2010/main" val="728950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92E52-0C9E-7CCC-47E8-5C4711AD23FE}"/>
              </a:ext>
            </a:extLst>
          </p:cNvPr>
          <p:cNvSpPr>
            <a:spLocks noGrp="1"/>
          </p:cNvSpPr>
          <p:nvPr>
            <p:ph type="title"/>
          </p:nvPr>
        </p:nvSpPr>
        <p:spPr/>
        <p:txBody>
          <a:bodyPr/>
          <a:lstStyle/>
          <a:p>
            <a:r>
              <a:rPr lang="en-IN" dirty="0">
                <a:solidFill>
                  <a:schemeClr val="accent1"/>
                </a:solidFill>
              </a:rPr>
              <a:t>IBM Certifications</a:t>
            </a:r>
          </a:p>
        </p:txBody>
      </p:sp>
      <p:sp>
        <p:nvSpPr>
          <p:cNvPr id="3" name="Content Placeholder 2">
            <a:extLst>
              <a:ext uri="{FF2B5EF4-FFF2-40B4-BE49-F238E27FC236}">
                <a16:creationId xmlns:a16="http://schemas.microsoft.com/office/drawing/2014/main" id="{177D9613-6E93-8A63-8EC7-750760D77FD8}"/>
              </a:ext>
            </a:extLst>
          </p:cNvPr>
          <p:cNvSpPr>
            <a:spLocks noGrp="1"/>
          </p:cNvSpPr>
          <p:nvPr>
            <p:ph idx="1"/>
          </p:nvPr>
        </p:nvSpPr>
        <p:spPr/>
        <p:txBody>
          <a:bodyPr anchor="t"/>
          <a:lstStyle/>
          <a:p>
            <a:r>
              <a:rPr lang="en-IN" dirty="0"/>
              <a:t>Screenshot/ </a:t>
            </a:r>
            <a:r>
              <a:rPr lang="en-IN" dirty="0" err="1"/>
              <a:t>credly</a:t>
            </a:r>
            <a:r>
              <a:rPr lang="en-IN" dirty="0"/>
              <a:t> certificate( getting started with AI)</a:t>
            </a:r>
          </a:p>
          <a:p>
            <a:pPr marL="0" indent="0">
              <a:buNone/>
            </a:pPr>
            <a:endParaRPr lang="en-IN" dirty="0"/>
          </a:p>
        </p:txBody>
      </p:sp>
      <p:pic>
        <p:nvPicPr>
          <p:cNvPr id="5" name="Picture 4">
            <a:extLst>
              <a:ext uri="{FF2B5EF4-FFF2-40B4-BE49-F238E27FC236}">
                <a16:creationId xmlns:a16="http://schemas.microsoft.com/office/drawing/2014/main" id="{44BFEEF7-6997-CB59-3796-A8EAFD44A6EB}"/>
              </a:ext>
            </a:extLst>
          </p:cNvPr>
          <p:cNvPicPr>
            <a:picLocks noChangeAspect="1"/>
          </p:cNvPicPr>
          <p:nvPr/>
        </p:nvPicPr>
        <p:blipFill>
          <a:blip r:embed="rId2"/>
          <a:stretch>
            <a:fillRect/>
          </a:stretch>
        </p:blipFill>
        <p:spPr>
          <a:xfrm>
            <a:off x="691314" y="1828035"/>
            <a:ext cx="6395285" cy="4941811"/>
          </a:xfrm>
          <a:prstGeom prst="rect">
            <a:avLst/>
          </a:prstGeom>
        </p:spPr>
      </p:pic>
    </p:spTree>
    <p:extLst>
      <p:ext uri="{BB962C8B-B14F-4D97-AF65-F5344CB8AC3E}">
        <p14:creationId xmlns:p14="http://schemas.microsoft.com/office/powerpoint/2010/main" val="384733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92E52-0C9E-7CCC-47E8-5C4711AD23FE}"/>
              </a:ext>
            </a:extLst>
          </p:cNvPr>
          <p:cNvSpPr>
            <a:spLocks noGrp="1"/>
          </p:cNvSpPr>
          <p:nvPr>
            <p:ph type="title"/>
          </p:nvPr>
        </p:nvSpPr>
        <p:spPr/>
        <p:txBody>
          <a:bodyPr/>
          <a:lstStyle/>
          <a:p>
            <a:r>
              <a:rPr lang="en-IN" dirty="0">
                <a:solidFill>
                  <a:schemeClr val="accent1"/>
                </a:solidFill>
              </a:rPr>
              <a:t>IBM Certifications</a:t>
            </a:r>
          </a:p>
        </p:txBody>
      </p:sp>
      <p:sp>
        <p:nvSpPr>
          <p:cNvPr id="3" name="Content Placeholder 2">
            <a:extLst>
              <a:ext uri="{FF2B5EF4-FFF2-40B4-BE49-F238E27FC236}">
                <a16:creationId xmlns:a16="http://schemas.microsoft.com/office/drawing/2014/main" id="{177D9613-6E93-8A63-8EC7-750760D77FD8}"/>
              </a:ext>
            </a:extLst>
          </p:cNvPr>
          <p:cNvSpPr>
            <a:spLocks noGrp="1"/>
          </p:cNvSpPr>
          <p:nvPr>
            <p:ph idx="1"/>
          </p:nvPr>
        </p:nvSpPr>
        <p:spPr/>
        <p:txBody>
          <a:bodyPr anchor="t"/>
          <a:lstStyle/>
          <a:p>
            <a:r>
              <a:rPr lang="en-IN" dirty="0"/>
              <a:t>Screenshot/ </a:t>
            </a:r>
            <a:r>
              <a:rPr lang="en-IN" dirty="0" err="1"/>
              <a:t>credly</a:t>
            </a:r>
            <a:r>
              <a:rPr lang="en-IN" dirty="0"/>
              <a:t> certificate( Journey to Cloud)</a:t>
            </a:r>
          </a:p>
          <a:p>
            <a:pPr marL="0" indent="0">
              <a:buNone/>
            </a:pPr>
            <a:endParaRPr lang="en-IN" dirty="0"/>
          </a:p>
        </p:txBody>
      </p:sp>
      <p:pic>
        <p:nvPicPr>
          <p:cNvPr id="5" name="Picture 4">
            <a:extLst>
              <a:ext uri="{FF2B5EF4-FFF2-40B4-BE49-F238E27FC236}">
                <a16:creationId xmlns:a16="http://schemas.microsoft.com/office/drawing/2014/main" id="{1D315CFC-2621-418E-BE62-20488A951788}"/>
              </a:ext>
            </a:extLst>
          </p:cNvPr>
          <p:cNvPicPr>
            <a:picLocks noChangeAspect="1"/>
          </p:cNvPicPr>
          <p:nvPr/>
        </p:nvPicPr>
        <p:blipFill>
          <a:blip r:embed="rId2"/>
          <a:stretch>
            <a:fillRect/>
          </a:stretch>
        </p:blipFill>
        <p:spPr>
          <a:xfrm>
            <a:off x="708902" y="1661746"/>
            <a:ext cx="6462864" cy="4994031"/>
          </a:xfrm>
          <a:prstGeom prst="rect">
            <a:avLst/>
          </a:prstGeom>
        </p:spPr>
      </p:pic>
    </p:spTree>
    <p:extLst>
      <p:ext uri="{BB962C8B-B14F-4D97-AF65-F5344CB8AC3E}">
        <p14:creationId xmlns:p14="http://schemas.microsoft.com/office/powerpoint/2010/main" val="41287103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92E52-0C9E-7CCC-47E8-5C4711AD23FE}"/>
              </a:ext>
            </a:extLst>
          </p:cNvPr>
          <p:cNvSpPr>
            <a:spLocks noGrp="1"/>
          </p:cNvSpPr>
          <p:nvPr>
            <p:ph type="title"/>
          </p:nvPr>
        </p:nvSpPr>
        <p:spPr/>
        <p:txBody>
          <a:bodyPr/>
          <a:lstStyle/>
          <a:p>
            <a:r>
              <a:rPr lang="en-IN" dirty="0">
                <a:solidFill>
                  <a:schemeClr val="accent1"/>
                </a:solidFill>
              </a:rPr>
              <a:t>IBM Certifications</a:t>
            </a:r>
          </a:p>
        </p:txBody>
      </p:sp>
      <p:sp>
        <p:nvSpPr>
          <p:cNvPr id="3" name="Content Placeholder 2">
            <a:extLst>
              <a:ext uri="{FF2B5EF4-FFF2-40B4-BE49-F238E27FC236}">
                <a16:creationId xmlns:a16="http://schemas.microsoft.com/office/drawing/2014/main" id="{177D9613-6E93-8A63-8EC7-750760D77FD8}"/>
              </a:ext>
            </a:extLst>
          </p:cNvPr>
          <p:cNvSpPr>
            <a:spLocks noGrp="1"/>
          </p:cNvSpPr>
          <p:nvPr>
            <p:ph idx="1"/>
          </p:nvPr>
        </p:nvSpPr>
        <p:spPr/>
        <p:txBody>
          <a:bodyPr anchor="t"/>
          <a:lstStyle/>
          <a:p>
            <a:r>
              <a:rPr lang="en-IN" dirty="0"/>
              <a:t>Screenshot/ </a:t>
            </a:r>
            <a:r>
              <a:rPr lang="en-IN" dirty="0" err="1"/>
              <a:t>credly</a:t>
            </a:r>
            <a:r>
              <a:rPr lang="en-IN" dirty="0"/>
              <a:t> certificate( RAG Lab)</a:t>
            </a:r>
          </a:p>
          <a:p>
            <a:pPr marL="0" indent="0">
              <a:buNone/>
            </a:pPr>
            <a:endParaRPr lang="en-IN" dirty="0"/>
          </a:p>
        </p:txBody>
      </p:sp>
      <p:pic>
        <p:nvPicPr>
          <p:cNvPr id="5" name="Picture 4">
            <a:extLst>
              <a:ext uri="{FF2B5EF4-FFF2-40B4-BE49-F238E27FC236}">
                <a16:creationId xmlns:a16="http://schemas.microsoft.com/office/drawing/2014/main" id="{ADC20FC4-45C4-7F36-3280-B225C5E635BB}"/>
              </a:ext>
            </a:extLst>
          </p:cNvPr>
          <p:cNvPicPr>
            <a:picLocks noChangeAspect="1"/>
          </p:cNvPicPr>
          <p:nvPr/>
        </p:nvPicPr>
        <p:blipFill>
          <a:blip r:embed="rId2"/>
          <a:stretch>
            <a:fillRect/>
          </a:stretch>
        </p:blipFill>
        <p:spPr>
          <a:xfrm>
            <a:off x="648892" y="1916724"/>
            <a:ext cx="6608931" cy="4673324"/>
          </a:xfrm>
          <a:prstGeom prst="rect">
            <a:avLst/>
          </a:prstGeom>
        </p:spPr>
      </p:pic>
    </p:spTree>
    <p:extLst>
      <p:ext uri="{BB962C8B-B14F-4D97-AF65-F5344CB8AC3E}">
        <p14:creationId xmlns:p14="http://schemas.microsoft.com/office/powerpoint/2010/main" val="21718527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Future forward</Template>
  <TotalTime>5914</TotalTime>
  <Words>1482</Words>
  <Application>Microsoft Office PowerPoint</Application>
  <PresentationFormat>Widescreen</PresentationFormat>
  <Paragraphs>151</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Calibri Light</vt:lpstr>
      <vt:lpstr>Franklin Gothic Book</vt:lpstr>
      <vt:lpstr>Franklin Gothic Demi</vt:lpstr>
      <vt:lpstr>Wingdings 2</vt:lpstr>
      <vt:lpstr>DividendVTI</vt:lpstr>
      <vt:lpstr>Predictive Maintenance of Industrial Machinery</vt:lpstr>
      <vt:lpstr>OUTLINE</vt:lpstr>
      <vt:lpstr>Problem Statement</vt:lpstr>
      <vt:lpstr>Proposed Solution</vt:lpstr>
      <vt:lpstr>System  Approach</vt:lpstr>
      <vt:lpstr>System  Approach</vt:lpstr>
      <vt:lpstr>Algorithm &amp; Deployment</vt:lpstr>
      <vt:lpstr>Data input &amp; prediction process</vt:lpstr>
      <vt:lpstr>Result</vt:lpstr>
      <vt:lpstr>Conclusion</vt:lpstr>
      <vt:lpstr>PowerPoint Presentation</vt:lpstr>
      <vt:lpstr>References</vt:lpstr>
      <vt:lpstr>IBM Certifications</vt:lpstr>
      <vt:lpstr>IBM Certifications</vt:lpstr>
      <vt:lpstr>IBM Certifications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PRIYANSHU NASKAR</cp:lastModifiedBy>
  <cp:revision>34</cp:revision>
  <dcterms:created xsi:type="dcterms:W3CDTF">2021-05-26T16:50:10Z</dcterms:created>
  <dcterms:modified xsi:type="dcterms:W3CDTF">2025-08-19T18:02:05Z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